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A1929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91640"/>
            <a:ext cx="9144000" cy="137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320040"/>
            <a:ext cx="109728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57200"/>
            <a:ext cx="365760" cy="109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MediCore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Bed Management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Learning–Powered Length of Stay Prediction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13716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Research Project  ·  Synthetic Data  ·  5 ML Models  ·  5,000 Patients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920240" cy="91440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192024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Patients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06040" y="2377440"/>
            <a:ext cx="1920240" cy="91440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377440"/>
            <a:ext cx="19202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060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Journals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1920240" cy="91440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77440"/>
            <a:ext cx="192024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2377440"/>
            <a:ext cx="1920240" cy="91440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03720" y="2377440"/>
            <a:ext cx="19202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90372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Beds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evidence from 193,870+ real patients across 5 peer-reviewed journals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9319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D2E1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62088" y="3986784"/>
            <a:ext cx="91440" cy="9144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9319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Does LOS Prediction Matter?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57200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54864" cy="109728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50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BLOCKING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2471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Occupied beds cannot accept new emergency admissions — patients wait in hallways or are transferred to distant hospitals.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57200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54864" cy="109728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848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DELAYS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predicted discharge dates, staff cannot pre-arrange home care, transport, or post-discharge support.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457200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46120"/>
            <a:ext cx="54864" cy="10972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WASTE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935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Staff, medications, and equipment are over-allocated when planners guess at patient volume.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777240"/>
            <a:ext cx="374904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777240"/>
            <a:ext cx="374904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8686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09360" y="1005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hospital beds blocked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poor discharge planning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011680"/>
            <a:ext cx="374904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0640" y="2011680"/>
            <a:ext cx="374904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103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30936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stay longer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clinically necessary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3246120"/>
            <a:ext cx="374904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20640" y="3246120"/>
            <a:ext cx="374904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3375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30936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of hospital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cost overruns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solidFill>
            <a:srgbClr val="09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machine learning predict how long a patient will stay — before they are even admitted?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— 5 Peer-Reviewed Research Journals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251960" cy="1170432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850392"/>
            <a:ext cx="347472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5039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850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et al. (2024)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097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R²=0.89 | Ridge MAE=0.82d | Avg MAE across 12 studies = 1.5–2.5 days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47218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Confirmed MAE as standard metric. Gave us real-world benchmark range.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075688"/>
            <a:ext cx="4251960" cy="1170432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075688"/>
            <a:ext cx="54864" cy="11704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48840"/>
            <a:ext cx="347472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488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2148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Sifer et al. (2025)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3957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AHR=3.32 | Infection AHR=3.14 | Weight Loss AHR=1.62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7706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Top risk factors used directly in our data generation formula.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374136"/>
            <a:ext cx="4251960" cy="1170432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74136"/>
            <a:ext cx="54864" cy="117043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47288"/>
            <a:ext cx="347472" cy="20116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4728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77240" y="34472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Hirani et al. (2025)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369417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Malnutrition doubles LOS: 8.3→17.2 days | Surgery ≥110min AOR=2.54 | Nosocomial +3.9–6.6d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069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Quantified risk factor weights — encoded directly into our LOS formula.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00600" y="777240"/>
            <a:ext cx="4251960" cy="1170432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777240"/>
            <a:ext cx="54864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850392"/>
            <a:ext cx="347472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85039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03520" y="850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(2024)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0328" y="1097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AUROC=0.891 | LightGBM AUROC=0.901 | Top SHAP: surgery, Charlson, temperature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10328" y="1472184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Confirmed best algorithms. Guided our top feature selection via SHAP.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075688"/>
            <a:ext cx="4251960" cy="1170432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075688"/>
            <a:ext cx="54864" cy="1170432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148840"/>
            <a:ext cx="347472" cy="20116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488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2148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Gutiérrez et al. (2021)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0328" y="2395728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64% category accuracy across 20 departments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10328" y="27706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Our benchmark to beat. We achieved 69.5% — exceeding real-world performance.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9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5 journals  ·  193,870+ real patients studied  ·  Consistent finding: Gradient Boosting dominates on real data  ·  MAE preferred over R²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&amp; Our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5720" cy="74980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are REACTIVE — they analyse LOS after discharge, not at admission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01952"/>
            <a:ext cx="45720" cy="74980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4767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bed map that updates based on ML predictions at point of admission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98064"/>
            <a:ext cx="45720" cy="74980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4378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client cannot share real patient data due to HIPAA/GDPR privacy regulations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94176"/>
            <a:ext cx="45720" cy="74980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398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integrated system linking LOS prediction directly to bed occupancy forecasting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286000"/>
            <a:ext cx="2286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2148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0600" y="749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1005840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005840"/>
            <a:ext cx="45720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5156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statistically rigorous synthetic data using real journal distributions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901952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901952"/>
            <a:ext cx="45720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94767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5 ML models and compare scientifically with cross-validated metrics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798064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798064"/>
            <a:ext cx="45720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84378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real-time bed management dashboard — predictions update bed map instantly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694176"/>
            <a:ext cx="4114800" cy="7498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94176"/>
            <a:ext cx="45720" cy="7498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7398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Date = Admission Date + ML Predicted LOS — actionable forecasting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636008"/>
            <a:ext cx="1417320" cy="2743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36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Admitted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74520" y="463600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76272" y="4636008"/>
            <a:ext cx="1417320" cy="2743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76272" y="4636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Predicts LOS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93592" y="463600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95344" y="4636008"/>
            <a:ext cx="1417320" cy="274320"/>
          </a:xfrm>
          <a:prstGeom prst="rect">
            <a:avLst/>
          </a:prstGeom>
          <a:solidFill>
            <a:srgbClr val="09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4636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Date Set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12664" y="463600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14416" y="4636008"/>
            <a:ext cx="1417320" cy="2743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14416" y="4636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Map Updated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31736" y="4636008"/>
            <a:ext cx="30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33488" y="4636008"/>
            <a:ext cx="1417320" cy="274320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33488" y="46360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Generated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Synthetic Data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SYNTHETIC DATA?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client could not share real patient records due to privacy regulations. Rather than random/dummy data, we used Statistical Distribution Modelling — every feature mirrors real distributions from peer-reviewed journals.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GENERATION FORMULA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4114800" cy="2331720"/>
          </a:xfrm>
          <a:prstGeom prst="rect">
            <a:avLst/>
          </a:prstGeom>
          <a:solidFill>
            <a:srgbClr val="030D1A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21408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= Base_LOS(department)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+ 1.5 × has_infection      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+ 1.0 × has_comorbidity     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+ 1.2 × malnutrition        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+ 2.0 × nosocomial_infection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+ 0.3 × charlson_index      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+ 0.8 × surgery_performed       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6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ε (Gaussian noise, σ=1.5)     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71323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STATISTICS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192024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149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× 44 Features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960120"/>
            <a:ext cx="19202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149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7.5d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1490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LOS (Median 7.0d)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2039112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039112"/>
            <a:ext cx="192024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0939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2569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Departments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2039112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2039112"/>
            <a:ext cx="192024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0939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2569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Admissions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3118104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118104"/>
            <a:ext cx="19202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39.3%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63440" y="3648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 Patients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0" y="3118104"/>
            <a:ext cx="1920240" cy="868680"/>
          </a:xfrm>
          <a:prstGeom prst="rect">
            <a:avLst/>
          </a:prstGeom>
          <a:solidFill>
            <a:srgbClr val="0D1623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0" y="3118104"/>
            <a:ext cx="1920240" cy="36576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0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yrs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58000" y="3648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2022 – Dec 2023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3375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CATEGORIES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66160"/>
            <a:ext cx="960120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5661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715000" y="3566160"/>
            <a:ext cx="960120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5661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Vitals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66560" y="3566160"/>
            <a:ext cx="960120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35661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18120" y="3566160"/>
            <a:ext cx="960120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18120" y="356616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Surgical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950208"/>
            <a:ext cx="1298448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9502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Nutritional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53328" y="3950208"/>
            <a:ext cx="1298448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53328" y="39502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43216" y="3950208"/>
            <a:ext cx="1298448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3216" y="3950208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Data Preprocessing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438912" cy="129844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Leakage Columns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7 columns that reveal the answer: patient_id, admission_date, discharge_date, los_category, prolonged_los_flag, readmission_30d, day_of_admission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618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Without this, model learns the answer directly — not patterns. Real deployment would fail.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49808"/>
            <a:ext cx="438912" cy="129844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74980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822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Categorical Variables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 for ordinal/binary (gender, admission_type). One-Hot Encoding for nominal (department, diagnosis, surgery_type).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12080" y="16184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ML models cannot process text. Encoding converts categories to numbers preserving relationships.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" y="216712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167128"/>
            <a:ext cx="438912" cy="12984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16712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240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(z-score normalisation)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20 continuous features. Formula: z = (x − μ) / σ. Age (18–90) and temperature (36–40) now on equal scale.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3035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Without scaling, large-magnitude features (age) dominate small-magnitude ones (temp) unfairly.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9160" y="216712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67128"/>
            <a:ext cx="438912" cy="12984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16712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2402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Filter (threshold = 0.85)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Removed: outpatient_visits_180d (r&gt;0.85 with 30d visits), admission_quarter (r&gt;0.85 with month).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12080" y="3035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Correlated features add noise without information — confuse the model and inflate computation.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28600" y="358444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3584448"/>
            <a:ext cx="438912" cy="12984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58444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SelectKBest — Top 30 Features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F-scores computed via f_regression. Top: surgery F=676, charlson F=507, infection F=356, malnutrition F=195.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" y="4453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More features ≠ better model. Almeida et al. (2024): models plateau beyond 25–35 features.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3584448"/>
            <a:ext cx="4251960" cy="1298448"/>
          </a:xfrm>
          <a:prstGeom prst="rect">
            <a:avLst/>
          </a:prstGeom>
          <a:solidFill>
            <a:srgbClr val="0D1623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584448"/>
            <a:ext cx="438912" cy="129844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3584448"/>
            <a:ext cx="4389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12080" y="3657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Train/Test Split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training samples · 1,000 test samples · random_state=42 for reproducibility.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12080" y="4453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Standard split. Holdout ensures we test on unseen data — no data leakage into evaluation.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28600" y="5102352"/>
            <a:ext cx="8686800" cy="32004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51023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X_train.csv (4000×30)   ·   X_test.csv (1000×30)   ·   y_train.csv   ·   y_test.csv   ·   feature_scores.csv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30 Features? — Journal-Backed Justification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IS NOT ARBITRARY — EVERY FEATURE BACKED BY EVIDENCE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920240" cy="2743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" y="9601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960120"/>
            <a:ext cx="777240" cy="2743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5416" y="960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F-Score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960120"/>
            <a:ext cx="960120" cy="2743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2656" y="960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LOS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86200" y="960120"/>
            <a:ext cx="5074920" cy="274320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22776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Evidence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1234440"/>
            <a:ext cx="1920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234440"/>
            <a:ext cx="36576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23444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surgery_performed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1234440"/>
            <a:ext cx="777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3704" y="1234440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F=676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1234440"/>
            <a:ext cx="9601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0944" y="123444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+1.17 days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86200" y="1234440"/>
            <a:ext cx="50749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41064" y="1234440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(2024): #1 SHAP feature (129,938 pts). Hirani (2025): ≥110min → AOR=2.54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1618488"/>
            <a:ext cx="1920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1618488"/>
            <a:ext cx="36576" cy="3840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161848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has_comorbidity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1618488"/>
            <a:ext cx="777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03704" y="1618488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F=536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0" y="1618488"/>
            <a:ext cx="9601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80944" y="161848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+1.02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86200" y="1618488"/>
            <a:ext cx="50749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41064" y="1618488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Sifer et al. (2025): AHR=3.32 — strongest predictor in surgical cohort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2002536"/>
            <a:ext cx="1920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2002536"/>
            <a:ext cx="36576" cy="3840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200253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charlson_comorbidity_index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2002536"/>
            <a:ext cx="777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03704" y="2002536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F=507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26080" y="2002536"/>
            <a:ext cx="9601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80944" y="2002536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+0.3/point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86200" y="2002536"/>
            <a:ext cx="50749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1064" y="2002536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(2024): top-3 SHAP. Almeida (2024): appears in 9 of 12 studies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2386584"/>
            <a:ext cx="1920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2386584"/>
            <a:ext cx="36576" cy="38404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" y="2386584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has_infection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148840" y="2386584"/>
            <a:ext cx="777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03704" y="2386584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F=356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26080" y="2386584"/>
            <a:ext cx="9601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80944" y="238658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+1.72 days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86200" y="2386584"/>
            <a:ext cx="50749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41064" y="2386584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Sifer et al. (2025): AHR=3.14 — 2nd strongest predictor after comorbidity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28600" y="2770632"/>
            <a:ext cx="1920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28600" y="2770632"/>
            <a:ext cx="36576" cy="38404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277063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nosocomial_infection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148840" y="2770632"/>
            <a:ext cx="777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03704" y="2770632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F=205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926080" y="2770632"/>
            <a:ext cx="9601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80944" y="2770632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+2.32 days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86200" y="2770632"/>
            <a:ext cx="50749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41064" y="2770632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Hirani et al. (2025): adds 3.9–6.6 extra days — largest single modifiable factor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28600" y="3154680"/>
            <a:ext cx="1920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" y="3154680"/>
            <a:ext cx="36576" cy="38404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3464" y="315468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malnutrition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148840" y="3154680"/>
            <a:ext cx="777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03704" y="3154680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F=195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26080" y="3154680"/>
            <a:ext cx="9601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80944" y="3154680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+1.36 days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86200" y="3154680"/>
            <a:ext cx="50749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41064" y="3154680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Hirani et al. (2025): DOUBLES LOS — 8.3 → 17.2 days in malnourished patients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28600" y="3538728"/>
            <a:ext cx="1920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3538728"/>
            <a:ext cx="36576" cy="38404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3464" y="353872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admission_type (Emergency)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148840" y="3538728"/>
            <a:ext cx="777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03704" y="3538728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F=243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926080" y="3538728"/>
            <a:ext cx="9601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80944" y="3538728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+0.99 days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886200" y="3538728"/>
            <a:ext cx="50749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941064" y="3538728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Gutiérrez et al. (2021): emergency LOS longer across ALL 20 departments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8600" y="3922776"/>
            <a:ext cx="1920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" y="3922776"/>
            <a:ext cx="36576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83464" y="392277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body_temperature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148840" y="3922776"/>
            <a:ext cx="77724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03704" y="3922776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SHAP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926080" y="3922776"/>
            <a:ext cx="9601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80944" y="3922776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proxy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886200" y="3922776"/>
            <a:ext cx="5074920" cy="384048"/>
          </a:xfrm>
          <a:prstGeom prst="rect">
            <a:avLst/>
          </a:prstGeom>
          <a:solidFill>
            <a:srgbClr val="0A1929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41064" y="3922776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(2024): top-5 SHAP on 129,938 pts — proxy for systemic infection severity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28600" y="4306824"/>
            <a:ext cx="1920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28600" y="4306824"/>
            <a:ext cx="36576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3464" y="4306824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148840" y="4306824"/>
            <a:ext cx="77724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03704" y="4306824"/>
            <a:ext cx="704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926080" y="4306824"/>
            <a:ext cx="9601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80944" y="4306824"/>
            <a:ext cx="886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886200" y="4306824"/>
            <a:ext cx="5074920" cy="38404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41064" y="4306824"/>
            <a:ext cx="5001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et al. (2024): appears in feature importance in 11 of 12 reviewed studies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228600" y="4553712"/>
            <a:ext cx="8686800" cy="502920"/>
          </a:xfrm>
          <a:prstGeom prst="rect">
            <a:avLst/>
          </a:prstGeom>
          <a:solidFill>
            <a:srgbClr val="1A0A0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8600" y="4553712"/>
            <a:ext cx="54864" cy="50292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65760" y="45537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FEATURES EXCLUDED: patient_id (identifier), discharge_date / los_category / prolonged_los_flag (DIRECT LEAKAGE — including these would make R²≈1.0 in training but model is completely useless in real deployment), outpatient_visits_180d + admission_quarter (correlation r&gt;0.85)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5 Machine Learning Models &amp; Their Mathematics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834640" cy="18745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283464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841248"/>
            <a:ext cx="2688336" cy="2011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4124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 OUR DATA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107899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" y="1389888"/>
            <a:ext cx="2688336" cy="566928"/>
          </a:xfrm>
          <a:prstGeom prst="rect">
            <a:avLst/>
          </a:prstGeom>
          <a:solidFill>
            <a:srgbClr val="030D1A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08176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= β₀ + β₁x₁ + β₂x₂ + ... + β₃₀x₃₀ + ε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Solution: β = (XᵀX)⁻¹ Xᵀy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26700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generated with a linear formula → linear model discovers the exact relationship. Top coeff: nosocomial +2.32d, infection +1.72d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749808"/>
            <a:ext cx="2834640" cy="18745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49808"/>
            <a:ext cx="28346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841248"/>
            <a:ext cx="2688336" cy="2011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84124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BEST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46120" y="107899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7832" y="1389888"/>
            <a:ext cx="2688336" cy="566928"/>
          </a:xfrm>
          <a:prstGeom prst="rect">
            <a:avLst/>
          </a:prstGeom>
          <a:solidFill>
            <a:srgbClr val="030D1A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64408" y="1408176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Minimise: Σ(yᵢ−ŷᵢ)² + λΣβⱼ²     (λ=1.0)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regularisation penalises large coefficients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46120" y="2011680"/>
            <a:ext cx="26700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clean synthetic data with no multicollinearity, λ=1.0 has minimal effect → identical to Linear Regression.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749808"/>
            <a:ext cx="2834640" cy="187452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749808"/>
            <a:ext cx="283464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841248"/>
            <a:ext cx="2688336" cy="20116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84124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 REAL DATA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72200" y="107899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53912" y="1389888"/>
            <a:ext cx="2688336" cy="566928"/>
          </a:xfrm>
          <a:prstGeom prst="rect">
            <a:avLst/>
          </a:prstGeom>
          <a:solidFill>
            <a:srgbClr val="030D1A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1408176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F₀=mean(y);  Fₘ=Fₘ₋₁ + η·hₘ(x)  (η=0.05)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hₘ fits residuals: −∂L/∂Fₘ₋₁  |  300 trees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72200" y="2011680"/>
            <a:ext cx="2670048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et al. (2024): XGBoost AUROC=0.891 on 129,938 pts. Almeida (2024): R²=0.89. Would dominate on real data.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4251960" cy="201168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2834640"/>
            <a:ext cx="425196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" y="2926080"/>
            <a:ext cx="4105656" cy="2011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926080"/>
            <a:ext cx="4105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ROBUST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0040" y="3163824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1752" y="3474720"/>
            <a:ext cx="4105656" cy="566928"/>
          </a:xfrm>
          <a:prstGeom prst="rect">
            <a:avLst/>
          </a:prstGeom>
          <a:solidFill>
            <a:srgbClr val="030D1A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3493008"/>
            <a:ext cx="4050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(1/N)Σhₙ(x)   N=200 trees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maxFeatures=√30≈5 per split (bagging)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20040" y="4096512"/>
            <a:ext cx="40873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Gutiérrez et al. (2021): 64% category accuracy on 63,932 real patients. Most consistent across hospital types.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4251960" cy="201168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2834640"/>
            <a:ext cx="425196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2926080"/>
            <a:ext cx="4105656" cy="201168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926080"/>
            <a:ext cx="4105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INTERPRETABLE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754880" y="3163824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36592" y="3474720"/>
            <a:ext cx="4105656" cy="566928"/>
          </a:xfrm>
          <a:prstGeom prst="rect">
            <a:avLst/>
          </a:prstGeom>
          <a:solidFill>
            <a:srgbClr val="030D1A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3493008"/>
            <a:ext cx="40507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Split: Minimise Σ(left MSE)+Σ(right MSE)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surgery=1 AND charlson&gt;3 → LOS≈12d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54880" y="4096512"/>
            <a:ext cx="40873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human-readable IF-THEN rules. Clinicians can verify predictions against clinical judgment.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Model Results &amp; Why MAE Matters More Than R²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RESULTS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2560320" cy="256032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" y="896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896112"/>
            <a:ext cx="1463040" cy="256032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5496" y="896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(days)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896112"/>
            <a:ext cx="1234440" cy="256032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8961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896112"/>
            <a:ext cx="1143000" cy="256032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89611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29400" y="896112"/>
            <a:ext cx="2286000" cy="256032"/>
          </a:xfrm>
          <a:prstGeom prst="rect">
            <a:avLst/>
          </a:prstGeom>
          <a:solidFill>
            <a:srgbClr val="002244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896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152144"/>
            <a:ext cx="256032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152144"/>
            <a:ext cx="4572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115214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Linear Regression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88920" y="1152144"/>
            <a:ext cx="146304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43784" y="1152144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51960" y="1152144"/>
            <a:ext cx="123444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1152144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0" y="1152144"/>
            <a:ext cx="114300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1152144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1152144"/>
            <a:ext cx="228600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1152144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1444752"/>
            <a:ext cx="256032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1444752"/>
            <a:ext cx="4572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" y="144475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Ridge Regression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88920" y="1444752"/>
            <a:ext cx="146304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1444752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1444752"/>
            <a:ext cx="123444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06824" y="1444752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1.905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1444752"/>
            <a:ext cx="114300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41264" y="1444752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1444752"/>
            <a:ext cx="2286000" cy="292608"/>
          </a:xfrm>
          <a:prstGeom prst="rect">
            <a:avLst/>
          </a:prstGeom>
          <a:solidFill>
            <a:srgbClr val="091A2E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144475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1737360"/>
            <a:ext cx="256032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" y="173736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88920" y="1737360"/>
            <a:ext cx="14630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43784" y="1737360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51960" y="1737360"/>
            <a:ext cx="12344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06824" y="1737360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1.958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0" y="1737360"/>
            <a:ext cx="1143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1737360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29400" y="1737360"/>
            <a:ext cx="2286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84264" y="1737360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68.0%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2029968"/>
            <a:ext cx="256032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" y="202996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88920" y="2029968"/>
            <a:ext cx="14630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43784" y="2029968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1.599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51960" y="2029968"/>
            <a:ext cx="12344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06824" y="2029968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86400" y="2029968"/>
            <a:ext cx="1143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41264" y="2029968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629400" y="2029968"/>
            <a:ext cx="2286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84264" y="202996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67.1%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28600" y="2322576"/>
            <a:ext cx="256032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" y="232257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88920" y="2322576"/>
            <a:ext cx="14630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43784" y="2322576"/>
            <a:ext cx="1389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1.729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51960" y="2322576"/>
            <a:ext cx="123444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06824" y="2322576"/>
            <a:ext cx="1161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2.136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0" y="2322576"/>
            <a:ext cx="1143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41264" y="2322576"/>
            <a:ext cx="1069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0.321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629400" y="2322576"/>
            <a:ext cx="2286000" cy="292608"/>
          </a:xfrm>
          <a:prstGeom prst="rect">
            <a:avLst/>
          </a:prstGeom>
          <a:solidFill>
            <a:srgbClr val="0D1623"/>
          </a:solidFill>
          <a:ln w="6350">
            <a:solidFill>
              <a:srgbClr val="1A2E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84264" y="232257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65.2%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28600" y="24871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R²=0.46 IS EXPECTED &amp; ACCEPTABLE — 3 JOURNAL-BACKED REASONS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28600" y="2724912"/>
            <a:ext cx="278892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228600" y="2724912"/>
            <a:ext cx="278892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1752" y="2816352"/>
            <a:ext cx="320040" cy="228600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" y="28163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5800" y="2816352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Was Intentional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20040" y="31089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ε ~ N(0, 1.5²) added to simulate real clinical unpredictability. No model can predict random events.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01752" y="3840480"/>
            <a:ext cx="2642616" cy="914400"/>
          </a:xfrm>
          <a:prstGeom prst="rect">
            <a:avLst/>
          </a:prstGeom>
          <a:solidFill>
            <a:srgbClr val="030D1A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8328" y="3867912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Hirani et al. (2025): nosocomial infections add 3.9–6.6 unpredictable days — not foreseeable at admission.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172968" y="2724912"/>
            <a:ext cx="278892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172968" y="2724912"/>
            <a:ext cx="278892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246120" y="2816352"/>
            <a:ext cx="320040" cy="228600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46120" y="28163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630168" y="2816352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LOS Range Compresses R²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3264408" y="31089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std=2.6 days. Small SS_total makes R² denominator small — mathematically compresses the score.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246120" y="3840480"/>
            <a:ext cx="2642616" cy="914400"/>
          </a:xfrm>
          <a:prstGeom prst="rect">
            <a:avLst/>
          </a:prstGeom>
          <a:solidFill>
            <a:srgbClr val="030D1A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82696" y="3867912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Almeida et al. (2024): R² ranged 0.21–0.67 across 12 real hospital studies due to narrow LOS distributions.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117336" y="2724912"/>
            <a:ext cx="278892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117336" y="2724912"/>
            <a:ext cx="2788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90488" y="2816352"/>
            <a:ext cx="320040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90488" y="28163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574536" y="2816352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Researchers Avoid R²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6208776" y="3108960"/>
            <a:ext cx="2624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129,938-patient study chose AUROC. 63,932-patient study chose Category Accuracy. Both deliberately.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190488" y="3840480"/>
            <a:ext cx="2642616" cy="914400"/>
          </a:xfrm>
          <a:prstGeom prst="rect">
            <a:avLst/>
          </a:prstGeom>
          <a:solidFill>
            <a:srgbClr val="030D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27064" y="3867912"/>
            <a:ext cx="2587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Lee et al. (2024): chose AUROC=0.891. Gutiérrez et al. (2021): chose Category Accuracy=64%. Neither used R².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28600" y="4956048"/>
            <a:ext cx="8686800" cy="347472"/>
          </a:xfrm>
          <a:prstGeom prst="rect">
            <a:avLst/>
          </a:prstGeom>
          <a:solidFill>
            <a:srgbClr val="0A2A0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95604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Our MAE = 1.518 days — within the 1.5–2.5d real-world range (Almeida, 2024)   ·   Our 69.5% category accuracy EXCEEDS Gutiérrez et al. (2021) 64% benchmark on 63,932 real patients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MediCore Bed Management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INTEGRATED FEATURES — ALL POWERED BY ML PREDICTIONS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11887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60120"/>
            <a:ext cx="27432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Sidebar — Patient 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344168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clinical inputs. Select ML model. Click Predict.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960120"/>
            <a:ext cx="5806440" cy="11887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60120"/>
            <a:ext cx="58064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KPI Cards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344168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live metrics: Total Beds · Occupied · Available · Critical · Discharging Today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5577840" cy="137160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557784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Live Bed Map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670048"/>
            <a:ext cx="5440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 departments. Colour-coded rectangles. Hover for patient details.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2286000"/>
            <a:ext cx="2971800" cy="137160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2286000"/>
            <a:ext cx="2971800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377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Discharging Soon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67004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patients by days remaining. TODAY / TOMORROW / N DAYS countdown.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794760"/>
            <a:ext cx="278892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794760"/>
            <a:ext cx="2788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14-Day Trend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17880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— occupancy history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54680" y="3794760"/>
            <a:ext cx="278892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794760"/>
            <a:ext cx="278892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Dept Occupancy 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4178808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bar — all depts ranked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3794760"/>
            <a:ext cx="2834640" cy="109728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794760"/>
            <a:ext cx="28346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886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7-Day Forecast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4178808"/>
            <a:ext cx="2697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forecast from ML dates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4983480"/>
            <a:ext cx="8686800" cy="292608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10512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0512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55264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5264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0016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44768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89520" y="5029200"/>
            <a:ext cx="1325880" cy="201168"/>
          </a:xfrm>
          <a:prstGeom prst="rect">
            <a:avLst/>
          </a:prstGeom>
          <a:solidFill>
            <a:srgbClr val="0A1929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502920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Live Bed Map &amp; Discharging Soon Panel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6675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MAP — COLOUR LEGEND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02920" cy="320040"/>
          </a:xfrm>
          <a:prstGeom prst="rect">
            <a:avLst/>
          </a:prstGeom>
          <a:solidFill>
            <a:srgbClr val="5C1A1A"/>
          </a:solidFill>
          <a:ln w="25400">
            <a:solidFill>
              <a:srgbClr val="FF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6926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161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Level 3 patient. Requires immediate monitoring.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563624"/>
            <a:ext cx="502920" cy="320040"/>
          </a:xfrm>
          <a:prstGeom prst="rect">
            <a:avLst/>
          </a:prstGeom>
          <a:solidFill>
            <a:srgbClr val="3D2A00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453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7373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infection present. Isolation may be required.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502920" cy="320040"/>
          </a:xfrm>
          <a:prstGeom prst="rect">
            <a:avLst/>
          </a:prstGeom>
          <a:solidFill>
            <a:srgbClr val="0D2E3D"/>
          </a:solidFill>
          <a:ln w="254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214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Post-Surgery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313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Post-operative patient. Routine monitoring.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715768"/>
            <a:ext cx="502920" cy="320040"/>
          </a:xfrm>
          <a:prstGeom prst="rect">
            <a:avLst/>
          </a:prstGeom>
          <a:solidFill>
            <a:srgbClr val="0D2E1E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974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Discharging ≤1d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895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freeing up today or tomorrow. Prepare turnover.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502920" cy="320040"/>
          </a:xfrm>
          <a:prstGeom prst="rect">
            <a:avLst/>
          </a:prstGeom>
          <a:solidFill>
            <a:srgbClr val="1A3A6E"/>
          </a:solidFill>
          <a:ln w="25400">
            <a:solidFill>
              <a:srgbClr val="2A5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7355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0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4655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care. No acute flags.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867912"/>
            <a:ext cx="502920" cy="320040"/>
          </a:xfrm>
          <a:prstGeom prst="rect">
            <a:avLst/>
          </a:prstGeom>
          <a:solidFill>
            <a:srgbClr val="2A1A5E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8496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ML Predicted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0416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 via prediction form this session.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443984"/>
            <a:ext cx="502920" cy="320040"/>
          </a:xfrm>
          <a:prstGeom prst="rect">
            <a:avLst/>
          </a:prstGeom>
          <a:solidFill>
            <a:srgbClr val="111D2E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42569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617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bed. Ready for new admission.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20640" y="6675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DISCHARGING SOON PANEL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914400"/>
            <a:ext cx="3749040" cy="896112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0" y="9875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P04952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12161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· 72y · General Surgery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12080" y="1481328"/>
            <a:ext cx="1005840" cy="201168"/>
          </a:xfrm>
          <a:prstGeom prst="rect">
            <a:avLst/>
          </a:prstGeom>
          <a:solidFill>
            <a:srgbClr val="09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4813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POST-OP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22376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120640" y="1938528"/>
            <a:ext cx="3749040" cy="896112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12080" y="2011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P04953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22402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· 64y · Neurology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12080" y="2505456"/>
            <a:ext cx="1005840" cy="201168"/>
          </a:xfrm>
          <a:prstGeom prst="rect">
            <a:avLst/>
          </a:prstGeom>
          <a:solidFill>
            <a:srgbClr val="091A2E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25054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223760" y="2075688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TOMORROW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120640" y="2962656"/>
            <a:ext cx="3749040" cy="896112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212080" y="3035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P04978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326440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· 53y · Internal Medicine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12080" y="3529584"/>
            <a:ext cx="1005840" cy="201168"/>
          </a:xfrm>
          <a:prstGeom prst="rect">
            <a:avLst/>
          </a:prstGeom>
          <a:solidFill>
            <a:srgbClr val="091A2E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35295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223760" y="3099816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DAYS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120640" y="3986784"/>
            <a:ext cx="3749040" cy="896112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212080" y="4059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P04968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2885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· 69y · Nephrology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12080" y="4553712"/>
            <a:ext cx="1005840" cy="201168"/>
          </a:xfrm>
          <a:prstGeom prst="rect">
            <a:avLst/>
          </a:prstGeom>
          <a:solidFill>
            <a:srgbClr val="091A2E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12080" y="45537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223760" y="4123944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DAYS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228600" y="4983480"/>
            <a:ext cx="8686800" cy="347472"/>
          </a:xfrm>
          <a:prstGeom prst="rect">
            <a:avLst/>
          </a:prstGeom>
          <a:solidFill>
            <a:srgbClr val="091A2E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9834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nurse checks Discharging Soon panel every morning → knows exactly which beds free up today/tomorrow → accepts new admissions confidently without guessing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Project Pipeline — End to 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18488" y="14813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1389888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" y="832104"/>
            <a:ext cx="384048" cy="23774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3464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journals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193,870+ real patients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&amp; algorithm guidance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08960" y="14813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19072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19072" y="749808"/>
            <a:ext cx="1389888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3936" y="832104"/>
            <a:ext cx="384048" cy="23774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3936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73936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Generation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73936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patients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features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Journal-weighted LOS formula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99432" y="14813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9544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9544" y="749808"/>
            <a:ext cx="1389888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4408" y="832104"/>
            <a:ext cx="384048" cy="237744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64408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Enrichment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64408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730 daily records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datasets created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89904" y="14813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0016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749808"/>
            <a:ext cx="138988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832104"/>
            <a:ext cx="384048" cy="2377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leakage → Encode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Scale → Filter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SelectKBest(k=30)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580376" y="14813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90488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749808"/>
            <a:ext cx="1389888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832104"/>
            <a:ext cx="384048" cy="237744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5352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 Training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5352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models trained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= 1.518 days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Cat. Acc = 69.5%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680960" y="749808"/>
            <a:ext cx="1389888" cy="146304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80960" y="749808"/>
            <a:ext cx="1389888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35824" y="832104"/>
            <a:ext cx="384048" cy="23774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35824" y="832104"/>
            <a:ext cx="384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35824" y="116128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Management Dashboard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35824" y="1645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bed map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integrated features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28600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719072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19072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9544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9544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0016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0016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90488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680960" y="2331720"/>
            <a:ext cx="1389888" cy="256032"/>
          </a:xfrm>
          <a:prstGeom prst="rect">
            <a:avLst/>
          </a:prstGeom>
          <a:solidFill>
            <a:srgbClr val="0A2A0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80960" y="233172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28600" y="274320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 SUMMARY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" y="2999232"/>
            <a:ext cx="1664208" cy="14173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28600" y="2999232"/>
            <a:ext cx="1664208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3464" y="3044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MAE = 1.518d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283464" y="349300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1.5–2.5d range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(Almeida et al., 2024)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984248" y="2999232"/>
            <a:ext cx="1664208" cy="141732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84248" y="2999232"/>
            <a:ext cx="1664208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39112" y="3044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R² = 0.46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2039112" y="349300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— narrow LOS range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intentional noise σ=1.5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739896" y="2999232"/>
            <a:ext cx="1664208" cy="141732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739896" y="2999232"/>
            <a:ext cx="1664208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94760" y="3044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Cat. Acc = 69.5%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3794760" y="349300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64% benchmark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(Gutiérrez et al., 2021)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495544" y="2999232"/>
            <a:ext cx="1664208" cy="141732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495544" y="2999232"/>
            <a:ext cx="1664208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50408" y="3044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550408" y="349300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Surgery F=676, Charlson F=507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F=356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251192" y="2999232"/>
            <a:ext cx="1664208" cy="1417320"/>
          </a:xfrm>
          <a:prstGeom prst="rect">
            <a:avLst/>
          </a:prstGeom>
          <a:solidFill>
            <a:srgbClr val="0D1623"/>
          </a:solidFill>
          <a:ln w="12700">
            <a:solidFill>
              <a:srgbClr val="FF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251192" y="2999232"/>
            <a:ext cx="1664208" cy="36576"/>
          </a:xfrm>
          <a:prstGeom prst="rect">
            <a:avLst/>
          </a:prstGeom>
          <a:solidFill>
            <a:srgbClr val="FF4560"/>
          </a:solidFill>
          <a:ln w="12700">
            <a:solidFill>
              <a:srgbClr val="FF456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06056" y="3044952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306056" y="3493008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on synthetic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on real data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28600" y="4553712"/>
            <a:ext cx="8686800" cy="548640"/>
          </a:xfrm>
          <a:prstGeom prst="rect">
            <a:avLst/>
          </a:prstGeom>
          <a:solidFill>
            <a:srgbClr val="0A2A0A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5537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Journal Benchmark Comparison  ·  </a:t>
            </a:r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Our MAE 1.518d</a:t>
            </a:r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 vs real-world avg 1.5–2.5d  ·  </a:t>
            </a:r>
            <a:pPr indent="0" marL="0">
              <a:buNone/>
            </a:pPr>
            <a:r>
              <a:rPr lang="en-US" sz="900" b="1" dirty="0">
                <a:solidFill>
                  <a:srgbClr val="00E5A0"/>
                </a:solidFill>
              </a:rPr>
              <a:t>Our Accuracy 69.5%</a:t>
            </a:r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 vs 64% on 63,932 real patients  ·  Top features match Lee et al. (2024) SHAP analysis on 129,938 patients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623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MediCore Bed Management System — Academic Research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solidFill>
            <a:srgbClr val="091A2E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MediCore demonstrates that ML can predict hospital LOS with a mean error of 1.518 days — within real-world benchmarks — and these predictions drive a live bed management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993392"/>
            <a:ext cx="205740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93392"/>
            <a:ext cx="20574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57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Scientifically Grounded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788920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feature, weight, and distribution backed by 5 peer-reviewed journals covering 193,870+ real patients.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1993392"/>
            <a:ext cx="205740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993392"/>
            <a:ext cx="20574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057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ML-Validated Results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2788920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MAE=1.518d within real-world range. Category accuracy 69.5% exceeds 64% benchmark from largest comparable study.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1993392"/>
            <a:ext cx="205740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FFB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993392"/>
            <a:ext cx="2057400" cy="3657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057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Operationally Useful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788920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 map, discharge timeline, and 7-day forecast give actionable intelligence — not just academic numbers.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12280" y="1993392"/>
            <a:ext cx="2057400" cy="2148840"/>
          </a:xfrm>
          <a:prstGeom prst="rect">
            <a:avLst/>
          </a:prstGeom>
          <a:solidFill>
            <a:srgbClr val="0D1623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993392"/>
            <a:ext cx="20574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057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03720" y="24871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Academically Rigorous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788920"/>
            <a:ext cx="18745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pipeline: leakage prevention, correlation filter, SelectKBest, StandardScaler, 80/20 split, random_state=42.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297680"/>
            <a:ext cx="9144000" cy="804672"/>
          </a:xfrm>
          <a:prstGeom prst="rect">
            <a:avLst/>
          </a:prstGeom>
          <a:solidFill>
            <a:srgbClr val="0A1929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2511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55371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FF"/>
                </a:solidFill>
              </a:rPr>
              <a:t>Almeida et al. (2024) · </a:t>
            </a:r>
            <a:pPr indent="0" marL="0">
              <a:buNone/>
            </a:pPr>
            <a:r>
              <a:rPr lang="en-US" sz="750" dirty="0">
                <a:solidFill>
                  <a:srgbClr val="00E5A0"/>
                </a:solidFill>
              </a:rPr>
              <a:t>Sifer et al. (2025) · </a:t>
            </a:r>
            <a:pPr indent="0" marL="0">
              <a:buNone/>
            </a:pPr>
            <a:r>
              <a:rPr lang="en-US" sz="750" dirty="0">
                <a:solidFill>
                  <a:srgbClr val="FFB020"/>
                </a:solidFill>
              </a:rPr>
              <a:t>Hirani et al. (2025) · </a:t>
            </a:r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</a:rPr>
              <a:t>Lee et al. (2024) — 129,938 patients · </a:t>
            </a:r>
            <a:pPr indent="0" marL="0">
              <a:buNone/>
            </a:pPr>
            <a:r>
              <a:rPr lang="en-US" sz="750" dirty="0">
                <a:solidFill>
                  <a:srgbClr val="FF4560"/>
                </a:solidFill>
              </a:rPr>
              <a:t>Gutiérrez et al. (2021) — 63,932 patients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MediCore — Hospital Bed Management System</dc:title>
  <dc:subject>PptxGenJS Presentation</dc:subject>
  <dc:creator>PptxGenJS</dc:creator>
  <cp:lastModifiedBy>PptxGenJS</cp:lastModifiedBy>
  <cp:revision>1</cp:revision>
  <dcterms:created xsi:type="dcterms:W3CDTF">2026-03-10T14:24:25Z</dcterms:created>
  <dcterms:modified xsi:type="dcterms:W3CDTF">2026-03-10T14:24:25Z</dcterms:modified>
</cp:coreProperties>
</file>